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Poppins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DE540A-36BE-40A8-A835-5A76ADBB30A7}">
  <a:tblStyle styleId="{4CDE540A-36BE-40A8-A835-5A76ADBB30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SemiBold-bold.fntdata"/><Relationship Id="rId23" Type="http://schemas.openxmlformats.org/officeDocument/2006/relationships/font" Target="fonts/Poppi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boldItalic.fntdata"/><Relationship Id="rId25" Type="http://schemas.openxmlformats.org/officeDocument/2006/relationships/font" Target="fonts/Poppins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Lato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95562" y="3848100"/>
            <a:ext cx="700087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D8E8E"/>
                </a:solidFill>
                <a:latin typeface="Poppins"/>
                <a:ea typeface="Poppins"/>
                <a:cs typeface="Poppins"/>
                <a:sym typeface="Poppins"/>
              </a:rPr>
              <a:t>Blinkit Sales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62250" y="4848225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Operational Performance &amp; Strategic Growth Insights 2022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1628775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3024187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3D8E8E"/>
                </a:solidFill>
                <a:latin typeface="Poppins"/>
                <a:ea typeface="Poppins"/>
                <a:cs typeface="Poppins"/>
                <a:sym typeface="Poppins"/>
              </a:rPr>
              <a:t>1.20M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43576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SALES REVENUE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26289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D8E8E"/>
                </a:solidFill>
                <a:latin typeface="Poppins"/>
                <a:ea typeface="Poppins"/>
                <a:cs typeface="Poppins"/>
                <a:sym typeface="Poppins"/>
              </a:rPr>
              <a:t>Growth Trajectory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3171825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operational landscape shows strong fundamentals with over 9,000 items successfully delivered across all tiers. An average consumer rating of 3.92 indicates high satisfaction and service reliability.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81750" y="4505325"/>
            <a:ext cx="685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8E8E"/>
                </a:solidFill>
                <a:latin typeface="Lato"/>
                <a:ea typeface="Lato"/>
                <a:cs typeface="Lato"/>
                <a:sym typeface="Lato"/>
              </a:rPr>
              <a:t>9K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Items Sold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448550" y="4505325"/>
            <a:ext cx="7048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8E8E"/>
                </a:solidFill>
                <a:latin typeface="Lato"/>
                <a:ea typeface="Lato"/>
                <a:cs typeface="Lato"/>
                <a:sym typeface="Lato"/>
              </a:rPr>
              <a:t>3.92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Avg Rating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C3E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Performance Overview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3D8E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1049000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534352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Market preference leans significantly toward regular fat products, which outperform low-fat variants across all three geographic outlet tiers.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C3E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Consumer Preference: Fat Content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3D8E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1049000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1200150" y="4605337"/>
            <a:ext cx="979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Fresh produce and snack categories are the primary revenue drivers, tied for lead performance at 0.18M total sales each.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C3E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 Performing Categories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3D8E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1049000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571500" y="502443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Following a significant expansion peak in 2015 reaching 205K in establishment sales, the market has stabilized at a healthy 131K baseline by 2022.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C3E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Outlet Establishment Timeline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3D8E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52387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66950"/>
            <a:ext cx="523875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850582" y="265747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D8E8E"/>
                </a:solidFill>
                <a:latin typeface="Poppins"/>
                <a:ea typeface="Poppins"/>
                <a:cs typeface="Poppins"/>
                <a:sym typeface="Poppins"/>
              </a:rPr>
              <a:t>Medium Outlets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962025" y="3200400"/>
            <a:ext cx="445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D8E8E"/>
                </a:solidFill>
                <a:latin typeface="Lato"/>
                <a:ea typeface="Lato"/>
                <a:cs typeface="Lato"/>
                <a:sym typeface="Lato"/>
              </a:rPr>
              <a:t>$507.9K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962025" y="4029075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Dominant store format providing the ideal balance between inventory depth and operational efficiency.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6660832" y="265747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D8E8E"/>
                </a:solidFill>
                <a:latin typeface="Poppins"/>
                <a:ea typeface="Poppins"/>
                <a:cs typeface="Poppins"/>
                <a:sym typeface="Poppins"/>
              </a:rPr>
              <a:t>Small &amp; High Outlets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772275" y="3200400"/>
            <a:ext cx="4457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$444.8K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6772275" y="4029075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Small formats remain highly competitive, nearly matching medium sales, while High-format stores contribute $249K.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C3E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Sales Impact by Outlet Size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3D8E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3587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33587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6381750" y="2714625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D8E8E"/>
                </a:solidFill>
                <a:latin typeface="Poppins"/>
                <a:ea typeface="Poppins"/>
                <a:cs typeface="Poppins"/>
                <a:sym typeface="Poppins"/>
              </a:rPr>
              <a:t>Tier-wise Performance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6381750" y="325755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Geographic analysis reveals that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Tier 3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locations lead with $472.13K in sales, indicating deep penetration into broader urban and suburban markets.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6381750" y="425767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Tier 2 ($393K) and Tier 1 ($336K) follow, showing a healthy distribution across all urban density levels.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C3E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Geographic Sales Analysis</a:t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3D8E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0"/>
          <p:cNvGraphicFramePr/>
          <p:nvPr/>
        </p:nvGraphicFramePr>
        <p:xfrm>
          <a:off x="2581275" y="2152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{4CDE540A-36BE-40A8-A835-5A76ADBB30A7}</a:tableStyleId>
              </a:tblPr>
              <a:tblGrid>
                <a:gridCol w="2019300"/>
                <a:gridCol w="1181100"/>
                <a:gridCol w="1276350"/>
                <a:gridCol w="1266825"/>
                <a:gridCol w="1285875"/>
              </a:tblGrid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D8E8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Outlet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D8E8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Sales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D8E8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Sales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D8E8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Items Sold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D8E8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Rating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Supermarket Type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$141.21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$787,549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5,577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Grocery Store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$140.29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$151,939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1,083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3.93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Supermarket Type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$141.68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$131,477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3.93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Supermarket Type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$139.80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$130,714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935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20"/>
          <p:cNvSpPr/>
          <p:nvPr/>
        </p:nvSpPr>
        <p:spPr>
          <a:xfrm>
            <a:off x="2581275" y="2814637"/>
            <a:ext cx="2019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600575" y="2814637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781675" y="2814637"/>
            <a:ext cx="127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7058025" y="2814637"/>
            <a:ext cx="1266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8324850" y="2814637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581275" y="3490912"/>
            <a:ext cx="2019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600575" y="3490912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781675" y="3490912"/>
            <a:ext cx="127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7058025" y="3490912"/>
            <a:ext cx="1266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8324850" y="3490912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581275" y="4167187"/>
            <a:ext cx="2019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4600575" y="4167187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781675" y="4167187"/>
            <a:ext cx="127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058025" y="4167187"/>
            <a:ext cx="1266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324850" y="4167187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581275" y="4843462"/>
            <a:ext cx="2019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600575" y="4843462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781675" y="4843462"/>
            <a:ext cx="127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058025" y="4843462"/>
            <a:ext cx="1266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8324850" y="4843462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581275" y="5519737"/>
            <a:ext cx="2019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600575" y="5519737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781675" y="5519737"/>
            <a:ext cx="127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7058025" y="5519737"/>
            <a:ext cx="12668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8324850" y="5519737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C3E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Outlet Type Comparison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71500" y="571500"/>
            <a:ext cx="76200" cy="542925"/>
          </a:xfrm>
          <a:prstGeom prst="rect">
            <a:avLst/>
          </a:prstGeom>
          <a:solidFill>
            <a:srgbClr val="3D8E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